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 ~30s】各位老师好，我是汤雨凡。本次汇报围绕一个科学问题：在小样本 BACE 这类 QSAR 任务上，新兴的"表格基础模型"能否在点预测、外推泛化、不确定性可信度这三条轴上，达到或超过传统 QSAR 与分子基础模型。下面用约十五分钟给出三条主证据，再补充表征、可解释性与多评估轴三项课程方法学深化，并诚实交代限制。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【~70s】先给结论，后面逐条证明。科学问题如上方框。在本数据集与评估协议下，零调参的 TabPFN 在三条轴上达到第一梯队——点预测误差最低 0.498、且与图网络 Chemprop、化学大模型 ChemFM 统计打平；在骨架严格划分的外推下几乎不退化、最鲁棒；不确定性区间在新化学上也最稳。同时我诚实交代一个否定结果：结构方法因对接位姿质量受限、没能补上配体模型的短板。这页是全场的地图。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【~40s】先给老师一张课程对应表：这门课要求选一个 AI 药物设计预测任务，做数据整理、模型构建、训练和分析——这张表逐条对上。数据整理是清洗加泄漏审计；表征是 Morgan 加 RDKit 描述符并做了多指纹消融；模型覆盖课程两种策略（指纹→ML、图→GNN）再加表格基础模型；评估以 MAE 和 Pearson R 为主，辅以分类和早期富集；最后落到 BACE 对接的药物发现语境。口径上跟随第五讲的 MoleculeNet / DeepChem 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【~65s】这是整个研究的设计图。一个真实任务 BACE、1513 个分子清洗到 1504；两种数据划分——预定义划分和骨架严格划分，后者专门测对新化学的外推；八个模型覆盖传统 QSAR、分子基础模型、表格基础模型和图网络；在三条轴上评估——点预测、外推、可信度。下面一行是两个支柱：结构模块用对接和 PBCNet2 引入蛋白信息、和配体模型对照，属对照而非同类性能比较；以及贯穿全程的可复现性审计。指标以平均绝对误差和相关系数为主，深度模型三个种子，测试集 303 个分子。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【~60s】八个模型分两类。策略一把分子当序列读：传统 QSAR、两个分子基础模型、以及表格基础模型 TabPFN；策略二把分子当图读，Chemprop。这么铺是为了回答——到底是表征更聪明重要、模型更大重要、还是干脆不调参的基础模型就够。关键是公平性：所有模型用同一份划分、同样三个种子、经典模型用嵌套交叉验证防止调参泄漏、测试集只看一次。先把比较的地基打平，后面的结论才站得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【~70s】第一条证据，点预测。TabPFN 误差最低、相关最高。但我没停在点估计。这里要区分两类检验：基于 n=303 个测试分子的临界差异图把逐分子误差当配对块，分子并非独立重复，所以我只把它当描述性可视化，不当严格显著性。严格的显著性来自两条：逐分子配对 bootstrap（10k 重采样 + Bonferroni）给 ΔMAE 置信区间，能进一步分开 RF、GBM 与 TabPFN；以及论文级的折级 Nadeau–Bengio 校正检验，以折为重复单元、避免伪重复。综合的严谨说法是 TabPFN 与图网络、化学大模型同属第一梯队。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【~55s】第二点关于调参。把传统模型在 1 到 80 次 Optuna 搜索下的表现，和零调参的 TabPFN 放在"精度对耗时"的图上。结论限定在本实验预算内：TabPFN 单次前向、约五秒、误差 0.498，落在左上角最优；而梯度提升调到八十次、耗时近千秒，仍没追上。我不说"任何预算都追不上"那种绝对话，只说在这个预算范围内、对路的小样本任务上，不调参的基础模型已经更划算。这一结论限定在本实验预算的耗时-误差权衡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【~60s】第二条证据，也是最重要的——外推泛化。预定义划分有约 64% 骨架重叠，会高估泛化。我按 Murcko 骨架严格重划、训练和测试无共享骨架，全部重训。鲁棒性差异很大：TabPFN 几乎不退化，误差只升 0.01、相关甚至上升，在本 BACE scaffold split 中表现最稳；而全参微调的 MolFormer 泛化性能明显退化、误差升 0.46。这和点预测、误差解剖指向同一条主线：TabPFN 在点预测上最佳、在 scaffold 外推与低 AD 覆盖上最稳，整体属第一梯队。这对真实虚拟筛选最关键，因为筛的就是没见过的新分子。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【~60s】这一页说清误差落在哪。两个系统性规律：一是所有模型都"回归到均值"、低估最强的高估最弱的；二是误差高度集中——误差最大的那批分子里，19% 落在活性悬崖、其余只有 1%，16% 是标签冲突、其余只有 2%，而且更偏新骨架和极端活性。左边是跨八个模型一致最难的三类代表：活性悬崖、标签冲突、新骨架。还有一点很关键：调参只是缩小误差幅度、并不改变哪些分子难。所以瓶颈在数据里的悬崖和噪声，不是调参不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【~50s】既然误差集中在难分子上，能不能用不确定性预警这类高误差风险？能。TabPFN 给的预测区间宽度（预测时即可得）和实际误差正相关；更直接的——58% 的共识难例落在它的 90% 区间之外，而容易预测的分子只有 6%。所以在虚拟筛选里，把最不确定的那批先拒掉交人工或实验复核，保留集误差会明显下降——红线明显低于随机拒识。需要说明：这里"难例"是按测试误差事后定义的，但区间宽度本身在预测时就可用于拒识。这把"模型什么时候别信它"变成可操作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【~45s】第三条证据，可信度，分两页。先看边际覆盖：给所有模型做 conformal 预测区间、名义 90%，每个模型的经验覆盖率都达标、在 0.90 到 0.95 之间，其中 Chemprop 的区间最紧、TabPFN 次之。单看这页会以为各模型区间都可信——但下一页会推翻这个表面结论。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【~55s】把覆盖率按到训练集的相似度分层，隐患就暴露了：8 个模型里有 6 个在低相似度、也就是新骨架子群上系统性欠覆盖、有的低到 0.2 到 0.5，而高相似度子群过覆盖——两者在总体上相互抵消，让边际覆盖"看起来"达标。也就是边际有效不等于处处有效。在低相似度上仍接近 0.9 的有两个：TabPFN 和 MolFormer——但 MolFormer 是靠区间显著更宽换来的，TabPFN 则同时保持紧致，在本数据与该分层中、于覆盖与宽度的折中上表现最好。这对外推到新化学的虚拟筛选是直接的可信度警示。需要说明的是，低相似度子群样本量较小（n=10、属探索性观察），但欠覆盖的方向在八个模型上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【~60s】配体模型只看分子，对接引入蛋白口袋。把测试集配体对接进 β-分泌酶晶体 4D8C，比较打分、机器学习和实验活性。结论：Vina 打分和活性只弱相关 −0.33，控制分子尺寸后接近 0（偏相关 −0.17）——因为活性分子普遍偏大、Vina 偏爱大分子，是尺寸混淆。监督 QSAR 在同一测试集上相关性更高，但两者用途不同：对接给的是结合位姿、不是排序工具。这里只对接了 301 个测试分子、不是全部 1504，因为对接是为下一步 PBCNet2 提供位姿。共晶配体重对接 RMSD 仅 1.13 埃，支持基础对接设置合理，在 backup。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【~65s】配体模型在悬崖上集体失手，而 PBCNet2 是郑明月老师课题组的结构-成对模型、专门预测一对配体的相对活性、为悬崖场景而生——我参与了该工作的部分方法开发和代码实现，因此对 PBCNet2 的适用边界也比较关注。我在 161 个活性悬崖对上检验它，用相对活性排序的 |Spearman ρ|（已按 ΔΔG 符号对齐）衡量。结果是一个阴性结果：它在悬崖对上只有 0.375、明显低于配体模型的 0.78；我还做了约束对接的公平复测、把位姿对齐到一致参考系，仍未改变结论。可能的主因是 cross-docking 位姿质量、而非 PBCNet2 本身——它在自己的 FEP 基准上很强，但那需要晶体级共晶位姿，而 MoleculeNet 这种多样配体只能批量对接、位姿不够可靠。这个否定结果界定了结构-成对模型该在什么条件下用。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【~50s】主结论之外，补两项稳健性与可解释性检查，呼应课程第四、五讲。其一表征消融：固定随机森林、只换分子指纹——Morgan、Atom Pair、Topological Torsion 几乎并列，MACCS 最弱；说明前面的模型排名不是某种指纹的产物，而且未调参的 RF+Morgan 0.559 和调参后的 0.554 几乎一样，互相印证。其二可解释性：描述符层面分子大小和复杂度主导，Chi0 与活性相关 +0.47，也就是这个系列里更大更复杂的分子更强；再把最重要的 Morgan 位画回子结构，能定位增效和致弱基团，backup 有图。这让模型不再是黑箱。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【~50s】BACE 作业是回归，但我把回归预测派生出两条额外评估轴，顺带演练第五讲的全套指标。分类轴：在 100 纳摩阈值二分，Chemprop 图网络 ROC-AUC 0.915、MCC 0.650 最高，TabPFN 次之——一个有意思的细节是，回归点估计最好的 TabPFN 在分类上略输给 Chemprop，说明评估口径会改变谁第一，所以我多轴并看。早期富集轴模拟先导优化里“能否把最强的分子排到最前”：以最高活性 10% 为命中，各模型在表头富集 4 到 7 倍于随机，ChemFM 和随机森林在 EF@10% 上领先。富集曲线放在 backup。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【~45s】方法论的地基是对自己结果的审计。阴性对照：把训练标签打乱重训，三个模型的测试相关都降至零附近——支持我报的 0.84 到 0.87 来自可学习的结构-活性信号、不是对随机标签的记忆。泄漏审计：预定义划分骨架重叠约 64%，我用骨架严格划分把这部分虚高定量剥离、如实报告。加上统一随机化、三个种子、调参只用验证集、测试集只看一次、所有图一键重出。这些让我敢说每个数字都站得住、也都可被质疑。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 ~45s】三个 take-home：小样本分子回归上，零调参的 TabPFN 在点预测、外推、可信度三轴均达第一梯队、并在外推与可信度上最稳；误差系统性集中在悬崖和新骨架、不确定性能预警高误差风险；结构方法未超过配体模型（可能受位姿质量影响）、我诚实报告了否定结果。限制也讲清楚：单数据集、预定义划分有泄漏（已用 scaffold split 缓解）、PBCNet2 检验可能受位姿质量影响、且没做前瞻性实验。最大的收获是把一个问题做到能 defend、并诚实面对否定结果。谢谢老师，请批评指正。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Backup：完整四指标 + 标准差，回答“方差在哪”。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Backup：训练实现 + 嵌套 CV 细节 + 防过拟合。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Backup：调参的真实增量——调参不必然带来稳定增益。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Backup：CD 图仅作描述性可视化（逐分子非独立重复=伪重复）。严格显著性来自两条：(i) 逐分子配对 bootstrap（10k+Bonferroni）显示 TabPFN 显著优于 RF / GBM（p&lt;0.01）；(ii) 折级 Nadeau–Bengio：主分析 ρ=1/9 下其余模型均显著更差，但保守 ρ=0.25 NB-Holm 下仅 MolFormer 仍显著更差——两种检验灵敏度不同。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Backup：完整数据审计——立体未定义、骨架重叠、相似性泄漏。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Backup：re-dock 1.13 Å 支持基础对接设置合理；弱相关更可能源于打分函数局限。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Backup：PBCNet2 输入 = 蛋白口袋 + 配体位姿 → 图 → 成对 ΔpAct；972 对中 161 悬崖。悬崖对间共享配体（非独立），pair-level Spearman 有效样本量被高估、严格 CI 需按配体 bootstrap；主表用 |ρ|（PBCNet2 输出 ΔΔG 与 ΔpIC50 反号），带符号版见仓库。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Backup：把 RF 重要性最高的 Morgan 位映射回原子环境；某含氟芳环环境一旦出现，平均 pIC50 下降约 1.73。描述符层面 Chi0（分子大小）居首、ρ=+0.47，主题是“更大更复杂的分子更强”。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Backup：模拟先导优化的早期识别能力；EF@1% 仅 k=3、噪声大，仅作参考；主看 EF@5/10% 与富集曲线。各模型在排序表头富集 4–7 倍于随机。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2775" y="457200"/>
            <a:ext cx="2331720" cy="795528"/>
          </a:xfrm>
          <a:prstGeom prst="rect">
            <a:avLst/>
          </a:prstGeom>
        </p:spPr>
      </p:pic>
      <p:pic>
        <p:nvPicPr>
          <p:cNvPr id="4" name="Image 1" descr="assets/fudan/fudan_tow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75" y="4160520"/>
            <a:ext cx="2834640" cy="2103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160" y="196596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BACE-1 抑制剂活性预测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1280160" y="28346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FA0B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小样本 QSAR 下表格基础模型、传统模型与分子基础模型的系统评估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280160" y="3401568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Tabular Foundation Models vs Classical QSAR and Molecular Foundation Models on Small-Sample BACE-1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840480" y="4023360"/>
            <a:ext cx="451073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280160" y="4206240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复旦大学《AI 赋能药物发现前沿》期末实验报告 · 课堂汇报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80160" y="4617720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汇报人：汤雨凡（学号 23307130372）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80160" y="5074920"/>
            <a:ext cx="8351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2026 年 6 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核心结论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表格基础模型在三条轴上均达第一梯队，并在外推与条件覆盖上更稳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481328"/>
            <a:ext cx="11048695" cy="91440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554480"/>
            <a:ext cx="10637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科学问题：</a:t>
            </a:r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在小样本 BACE QSAR 中，表格基础模型 TabPFN 能否在【点预测】【外推泛化】【不确定性】上达到或超过传统 QSAR 与分子基础模型？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7706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 点预测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86384" y="3118104"/>
            <a:ext cx="313639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3191256"/>
            <a:ext cx="3154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MAE 0.498  最低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与 Chemprop / RF / ChemFM 同属第一梯队；显著性依口径：bootstrap / ρ=1/9 下优于经典基线，保守 NB-Holm 下仅 MolFormer 仍显著更差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370832" y="260604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8576" y="27706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② 外推泛化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08576" y="3118104"/>
            <a:ext cx="313639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3191256"/>
            <a:ext cx="3154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ΔMAE +0.01  最稳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scaffold split 下几乎不退化；MolFormer 明显退化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93024" y="260604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30768" y="27706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 可信度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430768" y="3118104"/>
            <a:ext cx="313639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30768" y="3191256"/>
            <a:ext cx="3154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low-AD ~0.9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提示在新化学上更稳；low-AD n=10，需更大外部集验证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5074920"/>
            <a:ext cx="11048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结论（本数据集与评估协议下）：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TabPFN 在三轴上达到第一梯队，并在外推 / 低 AD 覆盖上表现最稳；结构方法（对接 / PBCNet2）未能弥补配体模型短板（可能受位姿质量影响）——一并如实报告。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课程对应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完整回应第五讲作业：数据整理 → 模型构建 → 训练评估 → 药物发现应用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486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5413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课程环节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本项目对应内容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数据整理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清洗漏斗 / 去重 / Murcko 骨架与泄漏审计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分子表征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Morgan 指纹 + RDKit 物化描述符 + 多指纹消融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模型构建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策略一 传统 ML（RF / GBM / SVR / Ridge）+ 基础模型（MolFormer / ChemFM / TabPFN）；策略二 Chemprop D-MPNN 图网络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训练与评估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Optuna + 5 折 CV + 3 seed；MAE / Pearson R · ROC-AUC / MCC · 早期富集 EF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药物发现应用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β-secretase 4D8C 分子对接（Vina）/ PBCNet2 / 活性悬崖分析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可复现性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scaffold split · 泄漏审计 · 阴性对照 · 显著性检验 · conformal / AD 分层</a:t>
                      </a:r>
                      <a:endParaRPr lang="en-US" sz="13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70448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口径：MoleculeNet / DeepChem 作业（BACE / SMILES / 1513 / 回归 / MAE + Pearson R）；实现以 RDKit + scikit-learn / Chemprop / HuggingFace Transformers 复现同一数据任务。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研究设计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研究设计：一个任务、八个模型、三轴评估 + 结构与审计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691640"/>
            <a:ext cx="16367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BACE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1513 → 清洗 1504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2377440" y="2148840"/>
            <a:ext cx="457200" cy="0"/>
          </a:xfrm>
          <a:prstGeom prst="line">
            <a:avLst/>
          </a:prstGeom>
          <a:noFill/>
          <a:ln w="25400">
            <a:solidFill>
              <a:srgbClr val="8FA0B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880360" y="16916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53512" y="169164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两种数据划分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预定义 + 骨架严格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029200" y="2148840"/>
            <a:ext cx="457200" cy="0"/>
          </a:xfrm>
          <a:prstGeom prst="line">
            <a:avLst/>
          </a:prstGeom>
          <a:noFill/>
          <a:ln w="25400">
            <a:solidFill>
              <a:srgbClr val="8FA0B3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532120" y="16916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05272" y="169164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个模型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传统 / 分子基础 / 表格基础 / 图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863840" y="2148840"/>
            <a:ext cx="457200" cy="0"/>
          </a:xfrm>
          <a:prstGeom prst="line">
            <a:avLst/>
          </a:prstGeom>
          <a:noFill/>
          <a:ln w="25400">
            <a:solidFill>
              <a:srgbClr val="8FA0B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366760" y="141732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EEF1F6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9912" y="1417320"/>
            <a:ext cx="3054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三轴评估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① 点预测  ② scaffold 外推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③ conformal / AD 可信度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48640" y="36118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3611880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结构模块（对接 4D8C + PBCNet2）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解释结合模式、检验结构-成对模型；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与配体模型对照，非同类性能比较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08076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3912" y="3611880"/>
            <a:ext cx="5340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可复现性审计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阴性对照（置换标签）· 泄漏审计（骨架重叠）</a:t>
            </a:r>
            <a:endParaRPr lang="en-US" sz="14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549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· 统一随机化 · 测试集只用一次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548640" y="521208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任务：BACE pIC50 回归 + 结构对接模块（官方 Class 标签为分类口径，本汇报聚焦回归）。指标：MAE / Pearson R 为主，辅以 RMSE / Spearman ρ；深度模型 3 seed mean±sd；测试集 n=303。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模型与公平性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八个模型覆盖两种策略，并施加统一的公平性控制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6276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策略一 · SMILES → 编码器 → ML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" y="1975104"/>
            <a:ext cx="501091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048256"/>
            <a:ext cx="50292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传统 QSAR：随机森林 / 梯度提升 / SVR / 岭回归（Morgan 2048）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分子基础模型：MolFormer-XL（47M，全参微调）、ChemFM-3B（30 亿参，LoRA 0.2%）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表格基础模型：TabPFN（前向一次、零调参，输入 RDKit 描述符）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463040"/>
            <a:ext cx="5394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1627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策略二 · SMILES → 二维图 → GNN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9944" y="1975104"/>
            <a:ext cx="491947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2048256"/>
            <a:ext cx="493776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Chemprop D-MPNN：原子-键有向消息传递图网络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覆盖“表征 × 学习器”谱系，回答：表征、规模、还是不调参的基础模型更重要？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11018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553712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公平性控制（避免偏置比较）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86384" y="4901184"/>
            <a:ext cx="1054303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6384" y="4974336"/>
            <a:ext cx="10561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同一份清洗后划分（bace_clean）输入全部 8 个模型；经典模型 Optuna 嵌套交叉验证、折内拟合标准化（防泄漏）；测试集只在最终评估一次。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重复性策略不同（非完全统一）：深度模型各 3 seed（报 mean±sd），经典模型与 TabPFN 为确定性单次。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结果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TabPFN 点预测 MAE 最低，与 Chemprop / RF / ChemFM 同属统计第一梯队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50" dirty="0"/>
          </a:p>
        </p:txBody>
      </p:sp>
      <p:pic>
        <p:nvPicPr>
          <p:cNvPr id="8" name="Image 1" descr="results/figures/fig_d_bench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5416"/>
            <a:ext cx="7498080" cy="441580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83880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证据①：点预测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21624" y="2139696"/>
            <a:ext cx="30632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TabPFN MAE 0.498 / R 0.873，最优。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Chemprop、RF、ChemFM 紧随（~0.55）——参数规模不决定性能。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逐分子 CD 图（n=303）仅作描述性可视化（分子非独立重复）。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严格显著性：配对 bootstrap（10k+Bonferroni）与折级 Nadeau–Bengio 检验。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调参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在本实验预算内，TabPFN 优于 Optuna-tuned baselines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50" dirty="0"/>
          </a:p>
        </p:txBody>
      </p:sp>
      <p:pic>
        <p:nvPicPr>
          <p:cNvPr id="8" name="Image 1" descr="results/figures/fig_d_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70" y="1417320"/>
            <a:ext cx="7125620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纵轴 test MAE，横轴调参耗时（对数）；红星 = 零调参 TabPFN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183880" y="15544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成本（效率分析）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21624" y="2139696"/>
            <a:ext cx="30632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TabPFN：~5 s、0 trial、MAE 0.498。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GBM 最优需 80 trial / 986 s，仍逊。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计时口径：同机 CPU、固定 exhaustiveness / trial 预算、单进程。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限定“本实验预算内”，不作绝对结论。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外推泛化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TabPFN 在本 BACE scaffold split 中外推最稳，全参微调的 MolFormer 明显退化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50" dirty="0"/>
          </a:p>
        </p:txBody>
      </p:sp>
      <p:pic>
        <p:nvPicPr>
          <p:cNvPr id="8" name="Image 1" descr="results/figures/fig_d_scaff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55624"/>
            <a:ext cx="7589520" cy="45411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预定义 vs 骨架严格划分的绝对 MAE；TabPFN 两 split 都最低、差距最小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183880" y="15544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证据②（外推）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21624" y="2139696"/>
            <a:ext cx="30632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scaffold MAE：TabPFN 0.51 仍最低、差距最小（Δ+0.01）。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MolFormer 0.67→1.13（Δ+0.46），退化最明显。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scaffold split = 更严格的新骨架压力测试。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误差解剖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误差不是随机的：集中在悬崖、标签冲突与新骨架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50" dirty="0"/>
          </a:p>
        </p:txBody>
      </p:sp>
      <p:pic>
        <p:nvPicPr>
          <p:cNvPr id="8" name="Image 1" descr="results/figures/fig_d_har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0620"/>
            <a:ext cx="7589520" cy="2108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5486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 8 模型共识最难的三类代表分子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183880" y="1554480"/>
            <a:ext cx="3520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系统性，不随机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21624" y="2139696"/>
            <a:ext cx="30632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回归到均值：低估高活性、高估低活性（TabPFN 收缩最小）。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大误差分子：19% 在活性悬崖（其余仅 1%）、16% 标签冲突（其余 2%）。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更偏新骨架、极端活性。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调参只缩小幅度、不改变“谁难”（大误差集合重叠 76%）。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58338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定义：活性悬崖 Tanimoto&gt;0.7 且 ΔpIC50&gt;2；标签冲突 = 同 InChIKey14 骨架多标签；“调参不改难” = 默认/调参 top-decile 误差集合 Jaccard=0.76。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不确定性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TabPFN 的不确定性可预警高误差风险、支持拒识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50" dirty="0"/>
          </a:p>
        </p:txBody>
      </p:sp>
      <p:pic>
        <p:nvPicPr>
          <p:cNvPr id="8" name="Image 1" descr="results/figures/fig_d_uncertain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09" y="1417320"/>
            <a:ext cx="6986942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按不确定性拒识 → 保留集 MAE 下降（vs 随机拒识）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183880" y="15544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可操作的预警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21624" y="2139696"/>
            <a:ext cx="30632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主证据：拒识最不确定者 → 保留集 MAE 明显下降（vs 随机）。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区间宽度 vs 误差 Spearman ρ=0.32。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解释性：58% 难例（按 test error 定义，后验）落在 90% 区间外，易预测仅 6%。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可信度 (1/2)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边际 90% 覆盖对所有模型都达标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50" dirty="0"/>
          </a:p>
        </p:txBody>
      </p:sp>
      <p:pic>
        <p:nvPicPr>
          <p:cNvPr id="8" name="Image 1" descr="results/figures/fig_d_co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88" y="1417320"/>
            <a:ext cx="7104185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经验覆盖率 vs 区间宽度（红虚线 = 名义 0.90）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183880" y="1554480"/>
            <a:ext cx="3520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边际有效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21624" y="2139696"/>
            <a:ext cx="30632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个模型边际覆盖率 0.90–0.95（达标）。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Chemprop 区间最紧（2.26）、TabPFN 次之。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协议：split-conformal，仅用 validation 校准，全模型同一协议，test 不参与调 coverage。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但“边际有效 ≠ 处处有效” → 下页。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可信度 (2/2)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但低相似度（新化学）分子明显欠覆盖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50" dirty="0"/>
          </a:p>
        </p:txBody>
      </p:sp>
      <p:pic>
        <p:nvPicPr>
          <p:cNvPr id="8" name="Image 1" descr="results/figures/fig_d_adco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55" y="1417320"/>
            <a:ext cx="7383250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按到训练集 Tanimoto 分层的条件覆盖（红虚线 = 0.90）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183880" y="155448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条件覆盖失效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21624" y="2139696"/>
            <a:ext cx="30632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中 6 个模型低 AD 覆盖率降至 0.2–0.5；TabPFN 与 MolFormer 仍接近 0.9（后者区间更宽）。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高 AD 过覆盖 → 边际相互抵消。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→ 边际有效 ≠ 处处有效。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局限：低 AD 子群 n=10（小），但欠覆盖方向跨 8 模型一致。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结构对接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对接打分与活性的相关主要由分子尺寸混淆；docking 价值在结合位姿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50" dirty="0"/>
          </a:p>
        </p:txBody>
      </p:sp>
      <p:pic>
        <p:nvPicPr>
          <p:cNvPr id="8" name="Image 1" descr="results/figures/fig_d_doc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91" y="1417320"/>
            <a:ext cx="6672778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Vina 打分 vs 实验 pIC50（按重原子数着色，n=301）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183880" y="155448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用途不同，非同类性能比较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21624" y="2139696"/>
            <a:ext cx="30632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Vina vs 活性：raw r=−0.33，控尺寸 −0.17。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监督 QSAR 在同一测试集上相关性更高（R 0.84–0.87）。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对接价值 = 结合位姿（作为 PBCNet2 输入）。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基础对接设置合理：re-dock 1.13 Å（backup）。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结构-成对模型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结构-成对模型在对接位姿上未超过配体模型（可能受位姿质量影响）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50" dirty="0"/>
          </a:p>
        </p:txBody>
      </p:sp>
      <p:pic>
        <p:nvPicPr>
          <p:cNvPr id="8" name="Image 1" descr="results/figures/fig_d_pbc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83" y="1417320"/>
            <a:ext cx="6852594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活性悬崖对上的相对活性排序 |Spearman|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183880" y="155448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阴性结果（界定适用范围）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421624" y="2139696"/>
            <a:ext cx="30632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悬崖对 n=161；指标 = |Spearman ρ|（已按 ΔΔG 符号对齐）。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PBCNet2 0.38（约束 0.17）&lt; RF/TabPFN 0.78。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可能主要受 cross-docking 位姿质量限制（非模型本身）。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界定适用范围：需晶体/FEP 级位姿。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稳健性与可解释性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换指纹不改模型排名；模型学到可学习的结构-活性相关信号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50" dirty="0"/>
          </a:p>
        </p:txBody>
      </p:sp>
      <p:pic>
        <p:nvPicPr>
          <p:cNvPr id="8" name="Image 1" descr="results/figures/fig_d_ab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6593"/>
            <a:ext cx="7498080" cy="42334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固定随机森林、仅更换分子表征（第五讲指纹清单）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183880" y="1554480"/>
            <a:ext cx="35204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稳健性 + 可解释性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21624" y="2139696"/>
            <a:ext cx="30632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表征消融：固定 RF 只换指纹，Morgan / Atom Pair / Topological Torsion 同属第一梯队，MACCS 最弱——模型排名非表征假象。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RF+Morgan 0.559 ≈ 调参后 0.554，互为印证。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描述符置换重要性：分子大小 / 复杂度主导（Chi0 ρ=+0.47、BertzCT），即更大更复杂更强。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Morgan 子结构可定位增效 / 致弱基团（backup）。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呼应课程“可解释性 + 适用域”。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更多评估轴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回归之外：分类与早期富集——谁第一随口径而变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50" dirty="0"/>
          </a:p>
        </p:txBody>
      </p:sp>
      <p:pic>
        <p:nvPicPr>
          <p:cNvPr id="8" name="Image 1" descr="results/figures/fig_d_classa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14" y="1463040"/>
            <a:ext cx="6713652" cy="4480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个模型的 ROC 曲线（active = pIC50 ≥ 7，类别均衡 43.9%）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183880" y="1554480"/>
            <a:ext cx="35204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21624" y="1719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分类 + 早期富集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421624" y="2066544"/>
            <a:ext cx="304495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21624" y="2139696"/>
            <a:ext cx="306324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分类（active = pIC50≥7）：Chemprop ROC-AUC 0.915 / MCC 0.650 最高，TabPFN 次之。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回归最优（TabPFN）≠ 分类最优（Chemprop）——口径改变排名，故多轴并看。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早期富集（高活性 = 最高 10%）：前 5–10% 富集约 4–7 倍于随机；EF@10% ChemFM / RF 领先（backup）。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完整演练第五讲二分类指标（ROC / PR / F1 / MCC）。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可复现性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泄漏、随机化与可复现性审计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6733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阴性对照（排除随机标签记忆）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" y="2020824"/>
            <a:ext cx="501091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093976"/>
            <a:ext cx="502920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置换训练标签后用同一流程重训：RF / GBM / TabPFN 测试 R 分别降至 −0.11 / −0.04 / −0.05。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→ 支持 R≈0.84–0.87 来自可学习的结构-活性信号、而非对随机标签的记忆。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8 个模型共享同一划分，减少划分差异带来的比较偏置。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置换覆盖经典+表格代表（RF/GBM/TabPFN）；深度模型未跑置换（成本），但共享同一干净划分。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50876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16733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泄漏审计 + 纪律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9944" y="2020824"/>
            <a:ext cx="491947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2093976"/>
            <a:ext cx="493776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预定义划分骨架重叠约 64%、约 29% 测试分子 Tanimoto&gt;0.85。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scaffold split 已把相似性虚高剥离（RF MAE 0.554→0.684）。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统一 set_all_seeds；3 seed；调参只用验证 / 折内 CV；测试集只看一次；所有图由 scripts/ 脚本一键重出（仓库可查）。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结论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Implications and limitations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6733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Take-home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86384" y="2020824"/>
            <a:ext cx="501091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2093976"/>
            <a:ext cx="502920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B222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小样本分子回归：零调参 TabPFN 在三轴（点预测 / scaffold 外推 / conformal 可信度）均达第一梯队，并在外推与低 AD 覆盖上、于本实验中表现最稳。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误差系统性集中在悬崖 / 标签冲突 / 新骨架；不确定性可预警高误差风险、支持拒识。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结构方法（对接 / PBCNet2）未超过配体模型（可能受位姿质量影响）——一个界定适用范围的阴性结果。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50876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16733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9944" y="2020824"/>
            <a:ext cx="491947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9944" y="2093976"/>
            <a:ext cx="493776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单数据集（BACE），结论外推到其他靶点需验证。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预定义划分存在骨架泄漏（已用 scaffold split 缓解并披露）。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PBCNet2 检验受限于 cross-docking 位姿质量，缺共晶位姿。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未做前瞻性实验验证（prospective validation）。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谢谢！恳请老师批评指正。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92608"/>
            <a:ext cx="1481328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80560" y="2331720"/>
            <a:ext cx="1828800" cy="18288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80560" y="2331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1280160" y="43891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4E6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Backup　补充材料</a:t>
            </a:r>
            <a:endParaRPr lang="en-US" sz="2400" dirty="0"/>
          </a:p>
        </p:txBody>
      </p:sp>
      <p:pic>
        <p:nvPicPr>
          <p:cNvPr id="7" name="Image 1" descr="assets/fudan/fudan_g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8" y="5394960"/>
            <a:ext cx="2011680" cy="14242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完整指标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全模型 × 四指标（深度模型 3 seed mean ± sd；测试集 n=303）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模型 (split: predefined)</a:t>
                      </a:r>
                      <a:endParaRPr lang="en-US" sz="12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MAE↓</a:t>
                      </a:r>
                      <a:endParaRPr lang="en-US" sz="12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RMSE↓</a:t>
                      </a:r>
                      <a:endParaRPr lang="en-US" sz="12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Pearson R↑</a:t>
                      </a:r>
                      <a:endParaRPr lang="en-US" sz="12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E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Spearman ρ↑</a:t>
                      </a:r>
                      <a:endParaRPr lang="en-US" sz="12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E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E4E6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TabPFN (desc)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E6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0.498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E6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0.668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E6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0.873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E4E63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0.834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Chemprop (3 seed)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0.551±0.008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0.737±0.015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0.842±0.007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0.827±0.009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RF + Morgan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0.554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0.747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0.841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0.822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ChemFM-3B (3 seed)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0.559±0.022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0.762±0.021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0.831±0.009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0.816±0.007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GBM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0.569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0.753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0.835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0.813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Ridge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0.596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0.796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0.814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0.802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SVR (RBF)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0.599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0.793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0.815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0.797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MolFormer-XL (3 seed)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0.674±0.054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0.885±0.057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0.775±0.035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0.733±0.034</a:t>
                      </a:r>
                      <a:endParaRPr lang="en-US" sz="125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3035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说明：经典模型与 TabPFN 为确定性单次（重复性策略不同，见 p4）；深度模型报 3 seed（42/1337/2024）mean ± sd。划分 = bace_clean 预定义。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训练流程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 / 验证 / 测试 + 嵌套交叉验证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5577840" cy="2743200"/>
          </a:xfrm>
          <a:prstGeom prst="rect">
            <a:avLst/>
          </a:prstGeom>
          <a:solidFill>
            <a:srgbClr val="F4F4F2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655064"/>
            <a:ext cx="51755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MolFormer-XL: SMILES -&gt; molecular vector -&gt; pIC50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 = tok(smiles, max_length=128, ...)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backbone(enc.input_ids, enc.attention_mask)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pooled = masked_mean(out.last_hidden_state, mask)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head(pooled)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 steps: zero_grad -&gt; forward -&gt; MSE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-&gt; backward -&gt; clip + step (AdamW + OneCycleLR)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best-on-val early stopping; ChemFM LoRA trains 0.2%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01384" y="16733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嵌套交叉验证（经典模型）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01384" y="2020824"/>
            <a:ext cx="482803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1384" y="2093976"/>
            <a:ext cx="48463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外层：留出测试只用一次。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内层：5 折 CV + Optuna TPE 调参，标准化折内拟合（leak-safe）。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避免乐观偏差（Cawley-Talbot 2010）。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11018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" y="4599432"/>
            <a:ext cx="10561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防过拟合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86384" y="4946904"/>
            <a:ext cx="1054303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5020056"/>
            <a:ext cx="10561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best-on-val 早停；LoRA 0.2%；dropout + 梯度裁剪；经典 5 折 CV。未观察到明显验证-测试落差，未见明显过拟合迹象。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调参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默认 vs 调参：欠正则模型大幅受益、树集成边际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50" dirty="0"/>
          </a:p>
        </p:txBody>
      </p:sp>
      <p:pic>
        <p:nvPicPr>
          <p:cNvPr id="8" name="Image 1" descr="results/figures/fig_tune_default_vs_tuned_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7654"/>
            <a:ext cx="8229600" cy="3437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调参对岭回归/SVR 大幅提升，对 RF/GBM 仅边际（个别略降）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显著性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临界差异图（描述性；Friedman p=1.3e-5，n=303）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150" dirty="0"/>
          </a:p>
        </p:txBody>
      </p:sp>
      <p:pic>
        <p:nvPicPr>
          <p:cNvPr id="8" name="Image 1" descr="results/figures/fig_cd_diagram_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10268"/>
            <a:ext cx="9144000" cy="32318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逐分子误差平均秩——逐分子非独立重复，仅作描述性可视化，非严格显著性检验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数据审计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数据质量仪表盘揭示评估风险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150" dirty="0"/>
          </a:p>
        </p:txBody>
      </p:sp>
      <p:pic>
        <p:nvPicPr>
          <p:cNvPr id="8" name="Image 1" descr="results/figures/eda_quality_dashboard_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54" y="1417320"/>
            <a:ext cx="7882932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立体未定义 75% · 骨架重叠约 64% · 测试-训练 Tanimoto · 类药通过率 · 描述符-活性相关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对接验证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共晶配体 re-dock 支持基础对接设置合理（RMSD 1.13 Å）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150" dirty="0"/>
          </a:p>
        </p:txBody>
      </p:sp>
      <p:pic>
        <p:nvPicPr>
          <p:cNvPr id="8" name="Image 1" descr="results/figures/fig_redock_over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1417320"/>
            <a:ext cx="6156960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对接位姿（彩色）与晶体位姿叠合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7315200" y="173736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552944" y="19019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 n=301 而非 1504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552944" y="2249424"/>
            <a:ext cx="3822192" cy="0"/>
          </a:xfrm>
          <a:prstGeom prst="line">
            <a:avLst/>
          </a:prstGeom>
          <a:noFill/>
          <a:ln w="9525">
            <a:solidFill>
              <a:srgbClr val="D9D2C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552944" y="2322576"/>
            <a:ext cx="3840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对接为 PBCNet2 提供位姿，对测试集 303 配体对接（2 个超大柔性失败）。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Vina 负分 = 更强结合 → 与 pIC50 负相关方向正确。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尺寸混淆：活性配体偏大、Vina 偏好大配体。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PBCNet2 方法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PBCNet2 接入：成对图 + 两种位姿协议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50" dirty="0"/>
          </a:p>
        </p:txBody>
      </p:sp>
      <p:pic>
        <p:nvPicPr>
          <p:cNvPr id="8" name="Image 1" descr="results/figures/fig_pbcnet_cliffs_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80260"/>
            <a:ext cx="822960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悬崖 vs 系列对照；cross-dock 与 constrained 两种位姿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可解释性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Morgan 子结构：增效 / 致弱基团定位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150" dirty="0"/>
          </a:p>
        </p:txBody>
      </p:sp>
      <p:pic>
        <p:nvPicPr>
          <p:cNvPr id="8" name="Image 1" descr="results/figures/interpretability_substructu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55" y="1417320"/>
            <a:ext cx="6985330" cy="4617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随机森林重要性最高的 6 个 Morgan 子结构（绿 = 增效，红 = 致弱）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4E63"/>
          </a:solidFill>
          <a:ln w="12700">
            <a:solidFill>
              <a:srgbClr val="3E4E63"/>
            </a:solidFill>
            <a:prstDash val="solid"/>
          </a:ln>
        </p:spPr>
      </p:sp>
      <p:pic>
        <p:nvPicPr>
          <p:cNvPr id="3" name="Image 0" descr="assets/fudan/fuda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4607" y="237744"/>
            <a:ext cx="1481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AI 赋能药物发现前沿　·　Backup · 早期富集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603504"/>
            <a:ext cx="9677095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768096"/>
            <a:ext cx="97228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富集曲线 + EF@5%（高活性 = 最高 10%）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0" y="643737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43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150" dirty="0"/>
          </a:p>
        </p:txBody>
      </p:sp>
      <p:pic>
        <p:nvPicPr>
          <p:cNvPr id="8" name="Image 1" descr="results/figures/screening_p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2167"/>
            <a:ext cx="8686800" cy="35880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126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743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潜力命中 = 最高 10% pIC50（n=31，pIC50≥8.04）；EF 天花板 9.8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BACE-1 抑制剂活性预测</dc:title>
  <dc:subject>PptxGenJS Presentation</dc:subject>
  <dc:creator>汤雨凡</dc:creator>
  <cp:lastModifiedBy>汤雨凡</cp:lastModifiedBy>
  <cp:revision>1</cp:revision>
  <dcterms:created xsi:type="dcterms:W3CDTF">2026-06-26T06:48:29Z</dcterms:created>
  <dcterms:modified xsi:type="dcterms:W3CDTF">2026-06-26T06:48:29Z</dcterms:modified>
</cp:coreProperties>
</file>