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37160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" y="1371600"/>
            <a:ext cx="182880" cy="182880"/>
          </a:xfrm>
          <a:prstGeom prst="ellipse">
            <a:avLst/>
          </a:prstGeom>
          <a:solidFill>
            <a:srgbClr val="CC79A7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371600"/>
            <a:ext cx="182880" cy="18288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6" name="Shape 4"/>
          <p:cNvSpPr/>
          <p:nvPr/>
        </p:nvSpPr>
        <p:spPr>
          <a:xfrm>
            <a:off x="1801368" y="1371600"/>
            <a:ext cx="182880" cy="18288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7" name="Shape 5"/>
          <p:cNvSpPr/>
          <p:nvPr/>
        </p:nvSpPr>
        <p:spPr>
          <a:xfrm>
            <a:off x="2112264" y="1371600"/>
            <a:ext cx="182880" cy="1828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8DAE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复旦大学药学院 · AI 赋能药物设计发现前沿 · 期末课堂口头汇报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BACE-1 抑制剂活性预测: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分子表征 · 结构对接 · 可信度评估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864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选定单任务深做:从 5 类分子表征,到 β-secretase 结构对接,再到“何时可以相信模型”的 conformal 评估。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5303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姓名 / 学号:____________________      授课教师:戚逸飞 · 王任小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算力:8 × NVIDIA RTX 5880 Ada (48GB)      日期:2026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01 / 背景与选题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为什么选 BACE-1 作为单任务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β-secretase 1 (BACE-1) 是阿尔茨海默病的关键药物靶点:它切割 APP、生成 Aβ,抑制它有望阻断 Aβ 斑块形成。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任务:在 BACE 数据集(1513 个分子)上预测抑制活性 pIC50。回归任务,指标 MAE / Pearson R。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选它的理由:6 个候选任务中,唯一能把课程知识点串成“一条龙”——两种建模策略 + 三维表征 + 结构对接 + 可信度评估。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920240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1513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分子数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1920240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BACE-1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β-secretase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4297680"/>
            <a:ext cx="1920240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PDB 4D8C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晶体结构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150876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508760"/>
            <a:ext cx="73152" cy="40233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17" name="Text 15"/>
          <p:cNvSpPr/>
          <p:nvPr/>
        </p:nvSpPr>
        <p:spPr>
          <a:xfrm>
            <a:off x="7296912" y="1673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一条龙:本汇报的主线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96912" y="2075688"/>
            <a:ext cx="409651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① 数据与清洗(canonical / 立体化学 / 泄漏审计)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② 5 类表征预测 pIC50(两种策略 + 3D)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③ 高活性配体对接进 4D8C 晶体结构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④ ML 排序 vs 物理打分 vs 实验,三路对照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D55E0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⑤ Conformal:何时可以相信预测?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02 /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五类分子表征 + 结构对接流程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五类分子表征(两种课程策略 + 一个超纲对照)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表征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策略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说明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RF + Morgan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半径 2 / 2048 位 + 随机森林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MolFormer-XL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11 亿分子预训练序列 Transformer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ChemFM-3B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30 亿参数大模型,LoRA 微调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Chemprop D-MPNN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策略二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有向键消息传递图网络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Uni-Mol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超纲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SE(3) 三维几何,显式 3D 构象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417320"/>
            <a:ext cx="4846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417320"/>
            <a:ext cx="73152" cy="324612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581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结构对接流程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22592" y="1984248"/>
            <a:ext cx="43708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受体:PDB 4D8C 取 β-secretase A 链,Meeko 准备。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口袋:以共晶配体 BXD 定义盒子(中心 30.6 / 6.2 / 14.5,尺寸 22×22×26 Å)。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配体:BACE 分子 RDKit 3D 嵌入 + Meeko 转 PDBQT。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对接:AutoDock Vina,对比打分 vs 实验 pIC50。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846320"/>
            <a:ext cx="4846320" cy="123444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67728" y="4956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评估协议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67728" y="526694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 seeds(42 / 1337 / 2024),均值 ± 标准差。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回归报 MAE + Pearson R;目标在训练折标准化,防泄漏。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/ 结果 · 活性预测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BACE 回归基准:图网络(策略二)领先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463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表征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策略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Pearson R ↑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MAE ↓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Chemprop D-MPNN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策略二 · 图网络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0.835 ± 0.005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55E00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0.604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RF + Morgan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 · 基线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0.804 ± 0.002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0.643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ChemFM-3B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 · 大模型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0.803 ± 0.004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0.651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Uni-Mol (3D)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超纲 · 三维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0.800 ± 0.006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0.650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MolFormer-XL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策略一 · 序列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0.798 ± 0.037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0.657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54480"/>
            <a:ext cx="38862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7982712" y="17190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要点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82712" y="2121408"/>
            <a:ext cx="34107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Chemprop(图网络)在 R 与 MAE 双双最佳:R = 0.835、MAE = 0.604。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其余四骨架 R ≈ 0.80,在 BACE 上难分高下——结构活性信号各表征都抓得到。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MolFormer 跨种子方差大(±0.037):如实呈现,不挑种子。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阴性对照:打乱标签重训 permuted R ≈ −0.06(≈0)——0.835 是真信号,非记噪声。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/ 结果 · 结构对接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BACE 结构对接:ML 排序 vs 物理打分 vs 实验</a:t>
            </a:r>
            <a:endParaRPr lang="en-US" sz="2500" dirty="0"/>
          </a:p>
        </p:txBody>
      </p:sp>
      <p:pic>
        <p:nvPicPr>
          <p:cNvPr id="5" name="Image 0" descr="results/figures/fig_bace_d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31" y="1463040"/>
            <a:ext cx="6151418" cy="46634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680960" y="1554480"/>
            <a:ext cx="39319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7936992" y="17190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要点(扛得住审视)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36992" y="2121408"/>
            <a:ext cx="345643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PDB 4D8C + AutoDock Vina,30 个跨活性配体(重原子 20–40 类药窗口)。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D55E0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Pearson r = −0.34,n = 30 未达统计显著(p = 0.069)。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控制分子大小后偏相关 −0.29:结合越强、打分越负,符合物理预期。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三路互补:ML 强定量排序(Chemprop 0.835)· 对接给可解释结合模式 · 实验 pIC50 为金标准。物理打分弱于 ML,不夸大。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/ 可信度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何时可以相信预测?BACE 的 Conformal 区间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表征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区间宽度 (pIC50) ↓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THeiti" pitchFamily="34" charset="0"/>
                          <a:ea typeface="STHeiti" pitchFamily="34" charset="-122"/>
                          <a:cs typeface="STHeiti" pitchFamily="34" charset="-120"/>
                        </a:rPr>
                        <a:t>经验覆盖率</a:t>
                      </a:r>
                      <a:endParaRPr lang="en-US" sz="1150" dirty="0">
                        <a:latin typeface="STHeiti" charset="0"/>
                        <a:ea typeface="STHeiti" charset="0"/>
                        <a:cs typeface="STHeit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ChemFM-3B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2.63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55E00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0.895(略欠)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Chemprop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2.66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5A7D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0.925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RF + Morgan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2.87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0.934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Uni-Mol (3D)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2.88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0.934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MolFormer-XL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2.93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Songti SC" pitchFamily="34" charset="0"/>
                          <a:ea typeface="Songti SC" pitchFamily="34" charset="-122"/>
                          <a:cs typeface="Songti SC" pitchFamily="34" charset="-120"/>
                        </a:rPr>
                        <a:t>0.924</a:t>
                      </a:r>
                      <a:endParaRPr lang="en-US" sz="1250" dirty="0">
                        <a:latin typeface="Songti SC" charset="0"/>
                        <a:ea typeface="Songti SC" charset="0"/>
                        <a:cs typeface="Songti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分布无关、有限样本覆盖保证;名义覆盖 90%。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1554480"/>
            <a:ext cx="4754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9" name="Text 6"/>
          <p:cNvSpPr/>
          <p:nvPr/>
        </p:nvSpPr>
        <p:spPr>
          <a:xfrm>
            <a:off x="7114032" y="17190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读数 &amp; OOD 警示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14032" y="2121408"/>
            <a:ext cx="427939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 上各骨架均达有效覆盖(~0.90–0.93),标定良好。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Chemprop 给最紧的合法区间:±1.33 pIC50 @ 92.5%——可把真实活性框进约 ±1.3 个对数单位。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5E0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条件覆盖审计(按到训练集 Tanimoto 分层):低相似度新骨架子群欠覆盖(RF 0.87 / ChemFM 0.82),高相似度过覆盖(0.94–0.97)。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外推到新化学时区间偏乐观——虚拟筛选需警惕。CQR 自适应区间在 BACE 上不划算,split conformal 已足够。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05 / 扩展验证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同一套方法学,扩展到全部 6 个课程数据集</a:t>
            </a:r>
            <a:endParaRPr lang="en-US" sz="2500" dirty="0"/>
          </a:p>
        </p:txBody>
      </p:sp>
      <p:pic>
        <p:nvPicPr>
          <p:cNvPr id="5" name="Image 0" descr="results/figures/fig_benchmark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691" y="1463040"/>
            <a:ext cx="6211019" cy="457200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498080" y="1554480"/>
            <a:ext cx="4114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0" y="1554480"/>
            <a:ext cx="73152" cy="4480560"/>
          </a:xfrm>
          <a:prstGeom prst="rect">
            <a:avLst/>
          </a:prstGeom>
          <a:solidFill>
            <a:srgbClr val="0E5A7D"/>
          </a:solidFill>
          <a:ln/>
        </p:spPr>
      </p:sp>
      <p:sp>
        <p:nvSpPr>
          <p:cNvPr id="8" name="Text 5"/>
          <p:cNvSpPr/>
          <p:nvPr/>
        </p:nvSpPr>
        <p:spPr>
          <a:xfrm>
            <a:off x="7754112" y="1719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超出单任务要求的额外验证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54112" y="2121408"/>
            <a:ext cx="36393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 BACE 上的流程推广到 6 个数据集 × 5 骨架,检验结论稳健性。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点预测:没有单一最优骨架——图网络 / 3D 长于回归,序列模型稳于分类,RF 是强基线。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Conformal 横评:量化“最紧 ≠ 有效”(Uni-Mol 在 ESOL 区间最紧、覆盖率却跌到 0.83)。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诚实定位:“神经模型过自信”“覆盖随相似度退化”在 MUBen(TMLR 2024)等已报道;本工作的增量是统一协议下的跨基础模型横向比较,不声称发现。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A7D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05 / 可信度审计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拆穿自己的数字:BACE 的诚实披露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78608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63.7%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scaffold 训练-测试重叠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578608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test 近重复 (Tanimoto&gt;0.85)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578608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≈ −0.06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阴性对照 permuted 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508760"/>
            <a:ext cx="2578608" cy="11430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143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55E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71%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194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立体化学未定义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预定义划分存在训练-测试泄漏:63.7% scaffold 重叠、29% 测试分子在训练集有近邻(Tanimoto&gt;0.85)——部分性能来自相似性而非真泛化,如实披露。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E5A7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阴性对照:打乱标签重训,permuted Pearson R ≈ −0.06(≈ 0)——确认 R = 0.835 是真信号,而非模型记噪声。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 71% 分子立体化学未定义:stereo-aware 模型性能可能虚高,讨论中明确标注。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" y="173736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ML 可靠预测 BACE-1 活性:Chemprop(图网络)R = 0.835、MAE = 0.604 全场最佳;其余表征 R ≈ 0.80。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结构对接补充可解释的结合模式假设,但定量排序弱于 ML(n = 30,r = −0.34 未显著)——诚实,不夸大物理打分。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2864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Conformal 回答“何时可信”:BACE 有效覆盖下最紧区间约 ±1.3 pIC50;但新骨架(低相似度)系统性欠覆盖,虚拟筛选需警惕。</a:t>
            </a:r>
            <a:endParaRPr lang="en-US" sz="15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方法学可推广:同一流程在 6 个数据集验证,结论稳健;全程以阴性对照与泄漏审计自检。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5074920"/>
            <a:ext cx="10515600" cy="1051560"/>
          </a:xfrm>
          <a:prstGeom prst="rect">
            <a:avLst/>
          </a:prstGeom>
          <a:solidFill>
            <a:srgbClr val="1B3047"/>
          </a:solidFill>
          <a:ln w="12700">
            <a:solidFill>
              <a:srgbClr val="0E5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64A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致谢与提问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AE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感谢 戚逸飞老师(yfqi@fudan.edu.cn)与 王任小老师(wangrx@fudan.edu.cn)的指导。欢迎提问。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BACE-1 活性预测 · 结构对接 · Conformal 可信度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08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BACE-1 活性预测、结构对接与可信度评估</dc:title>
  <dc:subject>PptxGenJS Presentation</dc:subject>
  <dc:creator>复旦大学药学院</dc:creator>
  <cp:lastModifiedBy>复旦大学药学院</cp:lastModifiedBy>
  <cp:revision>1</cp:revision>
  <dcterms:created xsi:type="dcterms:W3CDTF">2026-06-08T07:08:25Z</dcterms:created>
  <dcterms:modified xsi:type="dcterms:W3CDTF">2026-06-08T07:08:25Z</dcterms:modified>
</cp:coreProperties>
</file>