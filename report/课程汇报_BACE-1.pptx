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70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 ~30s】各位老师好，我是汤雨凡，学号 23307130372，汇报《BACE-1 抑制剂活性预测》。课程六选一，我没有六个都浅尝，而是只选 BACE-1 一个、把它做透——从数据、四种建模、三维对接，一直做到"预测什么时候能信"，并且全程自己审计自己的结果。下面约十二分钟讲清这条完整链路。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【~50s】为什么选它：BACE-1 是阿尔茨海默病里的一把"坏剪刀"——切割 APP、生成 Aβ 斑块，抑制它有望阻断斑块。我选单一任务是有意的：作业要的是把一个任务做完整，而 BACE 是六个候选里唯一能把课程知识点串成一条龙的——既能比两种建模策略，又有公开晶体结构能做对接，正中结构计算。我特意没有铺六个数据集的横向对比，因为那超出"单一任务"的范围，只会冲淡深度。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【~45s】这是数据的化学空间。1513 个分子，活性 pIC50 横跨约 8 个对数单位、近正态，平均 6.5；分子量、cLogP、极性表面积都落在类药区间。我先看分布再建模，是因为标签跨 8 个量级会影响 RMSE 的解读，所以后面我同时报 Pearson R 和 MAE，而不是只挑一个好看的。这是真实合理的药化数据集，不是玩具数据。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【~70s · 主线】先用一句大白话讲清"分子表征"：电脑只认数字、不认分子，所以得先把分子翻译成一串数字——怎么翻译，就是"表征"。同一个分子有两种看法：当成一句话（文字 SMILES）、当成一张关系网（二维图）；这四个模型就是这两种看法的代表。
策略一·当文字读：RF+Morgan、MolFormer、ChemFM；策略二·当关系网读：Chemprop。我这么设计，是为了回答一个问题：到底"更聪明的表征"重要，还是"更大的模型"重要？对接这边：4D8C 取受体、共晶配体定盒子、AutoDock Vina 对接。
【若被追问"这四个到底是什么"——大白话版，逐个秒答】
· RF+Morgan：给分子做一张"体检勾选表"（含苯环?✓ 含羟基?✗），再让一群决策树投票。最朴素的及格线，没有预训练。
· MolFormer-XL：读分子的 ChatGPT——预读了 11 亿个分子、练出"化学语感"。
· ChemFM-3B：更大的同款（30 亿参数）；太大全身调不动，用 LoRA 只贴一张"BACE 便利贴"、只训 0.2% 参数。
· Chemprop（图网络）：把分子当朋友圈，相邻原子互相"传八卦"，传几轮就读懂整张分子图。我项目里最准（R=0.835）。
收尾一句：让"当文字 / 当图"两种看法同台比，结果"当图看"的 Chemprop 赢了——说明在这点数据上，聪明的表征比更大的模型更值钱。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【~75s】这页放真实代码，想让老师看到我清楚每一步在做什么、不是调个库就完事。以 MolFormer 为例：SMILES 先被分词器编码成定长 128 的整数张量，送进主干得到每个 token 的向量，再用 attention-mask 加权做平均池化、压成一个 768 维分子指纹，过两层 MLP 输出 pIC50。主循环是标准五步：清梯度、前向、算 MSE、反传、梯度裁剪后更新，配 OneCycleLR。三条纪律：小模型全参微调够用、ChemFM 用 LoRA 只训 0.2% 参数；每个 epoch 末在验证集挑最优权重；所有随机性用 set_all_seeds 锁死，可复现。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【~55s】老师一定会问：你怎么知道模型训练充分了？这页就是答案。四种表征在验证集上的逐 epoch 曲线，阴影是三个种子的波动。全部收敛到平台：ChemFM 八个 epoch 就到位；MolFormer 抖动最大——恰好解释了它后面种子方差最大；Chemprop 第 50 个 epoch 正好落在平台上、和最优只差 0.005，说明没有过拟合到末轮。一句话：我报的每个数字都来自训练充分、收敛之后的模型。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【~55s】核心结果：图网络 Chemprop 双指标最佳，Pearson R 0.835、MAE 0.604。有意思的是其余四种都聚在 R≈0.80——包括最大的 ChemFM。这说明在这个数据规模上，把分子当"图"来学，比"更大的语言模型"更对路；模型越大不等于越好。我也如实报告 MolFormer 跨种子方差较大（±0.037），没有挑最好那一次。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【~40s】换成散点更直观，Chemprop 沿对角线最紧凑。请注意一个所有模型的共性：弱活性那一端，预测都略微往均值收。这不是 bug，是低活性样本本来就稀疏、难预测的必然结果——我在讨论里也明确写了。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【~60s】光预测一个数还不够，得知道什么时候能信它。我用 conformal 给出带 90% 保证的预测区间。BACE 上各模型都达到有效覆盖，Chemprop 最紧的合法区间约 ±1.3。但"有效不等于可用"：±1.3 换算成活性差不多是 20 倍，对精细排序帮助有限。更重要的是分层审计：对训练时没见过的新骨架，区间会偏乐观、欠覆盖——这是给虚拟筛选的直接警示，不是漂亮话。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【~50s】这页是我最想强调的——我主动拆自己的台。预定义划分有 64% 的骨架重叠，意味着部分成绩来自"见过相似的分子"。我改用严格的骨架分离重测，R 从 0.843 掉到 0.778。这 0.065 的虚高，我如实写出来、不藏。诚实披露本身就是这份作业的方法论亮点。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【~45s】左图就是刚才的泄漏压力测试。右图是阴性对照：我把训练标签随机打乱重训——如果模型还能预测准，说明它在背噪声；结果 R≈−0.06、几乎是零。这就证明 0.835 是真实的构效关系，不是记忆。这两步是审稿人级别的自查。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【~50s】总结四点：一，机器学习能可靠预测 BACE 活性，图网络最好，但精度只够粗筛、不够先导精修；二，对接位姿可信、打分不预测活性，我诚实定位了它的价值；三，conformal 回答了"何时可信"，新骨架要警惕；四，也是贯穿全程的基石——对自己结果的彻底审计与诚实披露。感谢戚逸飞老师和王任小老师的指导，欢迎提问。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【~50s】总结四点：一，机器学习能可靠预测 BACE 活性，图网络最好，但精度只够粗筛、不够先导精修；二，对接位姿可信、打分不预测活性，我诚实定位了它的价值；三，conformal 回答了"何时可信"，新骨架要警惕；四，也是贯穿全程的基石——对自己结果的彻底审计与诚实披露。感谢戚逸飞老师和王任小老师的指导，欢迎提问。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BACE-1 抑制剂活性预测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542032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分子表征+结构对接+Conformal 可信度评估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011680" y="3154680"/>
            <a:ext cx="81683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Activity Prediction of BACE-1 Inhibitors: Molecular Representations, Structure-Based Docking and Conformal Trustworthiness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3657600" y="3977640"/>
            <a:ext cx="4876495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160520"/>
            <a:ext cx="1036289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复旦大学药学院《AI 赋能药物设计发现前沿》期末课堂汇报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1036289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汤雨凡（学号 23307130372）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4983480"/>
            <a:ext cx="1036289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2026 年 6 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§1　背景与选题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 BACE-1 </a:t>
            </a:r>
            <a:r>
              <a:rPr lang="zh-CN" alt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课程目标</a:t>
            </a:r>
            <a:endParaRPr lang="zh-CN" altLang="en-US" sz="2500" b="1" dirty="0">
              <a:solidFill>
                <a:srgbClr val="1F3864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64008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β-secretase 1（BACE-1）是阿尔茨海默病的关键药物靶点：它切割 APP、生成 Aβ，抑制它有望阻断 Aβ 斑块形成。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任务：在 BACE 数据集（1513 个分子）上预测抑制活性 pIC50。回归任务，指标 MAE / Pearson R。</a:t>
            </a:r>
            <a:endParaRPr lang="en-US" sz="1500" dirty="0"/>
          </a:p>
          <a:p>
            <a:pPr indent="0">
              <a:spcAft>
                <a:spcPts val="800"/>
              </a:spcAft>
              <a:buSzPct val="100000"/>
              <a:buNone/>
            </a:pP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41605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334256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1513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4360" y="490118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分子数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715768" y="41605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5768" y="4334256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BACE-1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15768" y="490118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β-secretase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37176" y="41605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37176" y="4334256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4D8C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837176" y="490118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PDB 晶体结构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0" y="1481328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16642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</a:t>
            </a:r>
            <a:r>
              <a:rPr lang="zh-CN" alt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大纲</a:t>
            </a:r>
            <a:endParaRPr lang="zh-CN" altLang="en-US" sz="1500" b="1" dirty="0">
              <a:solidFill>
                <a:srgbClr val="1F3864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571232" y="2011680"/>
            <a:ext cx="378561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71232" y="2084832"/>
            <a:ext cx="3803904" cy="2596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 数据与清洗（canonical / 立体化学 / 泄漏审计）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 四类表征预测 pIC50（两种策略）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 </a:t>
            </a: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  <a:sym typeface="+mn-ea"/>
              </a:rPr>
              <a:t>ML 排序 vs 物理打分 vs 实验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④ </a:t>
            </a:r>
            <a:r>
              <a:rPr lang="en-US" sz="14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  <a:sym typeface="+mn-ea"/>
              </a:rPr>
              <a:t>Conformal：</a:t>
            </a:r>
            <a:r>
              <a:rPr lang="zh-CN" altLang="en-US" sz="14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  <a:sym typeface="+mn-ea"/>
              </a:rPr>
              <a:t>是否可以</a:t>
            </a:r>
            <a:r>
              <a:rPr lang="en-US" sz="14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  <a:sym typeface="+mn-ea"/>
              </a:rPr>
              <a:t>相信预测？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§1　数据概览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 化学空间一览（1513 个分子）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150" dirty="0"/>
          </a:p>
        </p:txBody>
      </p:sp>
      <p:pic>
        <p:nvPicPr>
          <p:cNvPr id="8" name="Image 0" descr="results/figures/fig_eda_props_j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6445"/>
            <a:ext cx="6858000" cy="38965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8521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图　六类类药描述符分布（红线 = 中位数）</a:t>
            </a:r>
            <a:endParaRPr lang="en-US" sz="1150" dirty="0"/>
          </a:p>
        </p:txBody>
      </p:sp>
      <p:pic>
        <p:nvPicPr>
          <p:cNvPr id="10" name="Image 1" descr="results/figures/fig_eda_label_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81651"/>
            <a:ext cx="4160520" cy="266025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52360" y="434340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708392" y="4526280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读数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708392" y="4873752"/>
            <a:ext cx="364845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08392" y="4946904"/>
            <a:ext cx="3666744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pIC50 跨约 8 个对数单位、近正态分布。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分子量 / cLogP / TPSA 均落在类药区间。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§2　数据与方法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四类分子表征 + 结构对接流程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四类分子表征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10512"/>
          <a:ext cx="603504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310896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表征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说明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RF + Morgan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半径 2 / 2048 位 + 随机森林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MolFormer-XL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11 亿分子预训练序列 Transformer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ChemFM-3B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30 亿参数大模型，LoRA 微调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Chemprop D-MPNN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策略二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有向键消息传递图网络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949440" y="1463040"/>
            <a:ext cx="4663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05472" y="164592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结构对接流程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205472" y="1993392"/>
            <a:ext cx="415137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05472" y="2066544"/>
            <a:ext cx="4169664" cy="1545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受体：PDB 4D8C 取 β-secretase A 链，Meeko 准备。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口袋：共晶配体 BXD 定义盒子（中心 30.6/6.2/14.5，22×22×26 Å）。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配体：RDKit 3D 嵌入 + Meeko PDBQT → AutoDock Vina。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49440" y="3977640"/>
            <a:ext cx="4663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05472" y="416052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评估协议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205472" y="4507992"/>
            <a:ext cx="415137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05472" y="4581144"/>
            <a:ext cx="416966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 seeds（42/1337/2024），均值 ± 标准差。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回归报 MAE + Pearson R；目标在训练折标准化，防泄漏。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§2　训练流程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训练循环（以 MolFormer-XL 为例）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1463040"/>
            <a:ext cx="6812280" cy="434340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609344"/>
            <a:ext cx="6409944" cy="4050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# SMILES -&gt; token tensor -&gt; backbone -&gt; pool -&gt; head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enc = tok(smiles, padding="max_length",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  max_length=128, return_tensors="pt")   # (1,128)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out = backbone(enc.input_ids, enc.attention_mask)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pooled = masked_mean(out.last_hidden_state, mask) # (B,768)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pred   = head(pooled)                             # predict pIC50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# training loop (5 steps per batch)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for epoch in range(1, 31):           # 30 epochs, bs=32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for batch in train_loader: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optim.zero_grad()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loss = MSELoss()(model(ids, mask), y)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loss.backward()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clip_grad_norm_(params, 1.0) # gradient clipping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    optim.step(); sched.step()   # AdamW + OneCycleLR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  # end epoch: val RMSE, keep best-on-val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1463040"/>
            <a:ext cx="3977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91272" y="1645920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训练纪律（五模型共用）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891272" y="1993392"/>
            <a:ext cx="346557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2066544"/>
            <a:ext cx="3483864" cy="3557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全参微调 44.6M（MolFormer）；ChemFM 用 LoRA 仅训 0.2%。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best-on-val：只存验证最优权重（= 收敛图的 ★）。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 seeds（42/1337/2024）+ set_all_seeds 锁全部随机性。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梯</a:t>
            </a:r>
            <a:endParaRPr lang="en-US" sz="1350" dirty="0">
              <a:solidFill>
                <a:srgbClr val="47433B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测试集仅最终 conformal </a:t>
            </a:r>
            <a:r>
              <a:rPr lang="zh-CN" alt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时使用</a:t>
            </a: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，杜绝调参泄漏。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§2　训练收敛性验证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四类表征在 BACE 上都训练到平台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150" dirty="0"/>
          </a:p>
        </p:txBody>
      </p:sp>
      <p:pic>
        <p:nvPicPr>
          <p:cNvPr id="8" name="Image 0" descr="results/figures/fig_convergence_j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12" y="1371600"/>
            <a:ext cx="7741695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760720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逐 epoch 验证轨迹（3 seed 均值 ± 带）；★ = 选用 epoch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732520" y="1371600"/>
            <a:ext cx="28803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88552" y="1554480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读数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988552" y="1901952"/>
            <a:ext cx="236829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88552" y="1975104"/>
            <a:ext cx="2386584" cy="3602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四类表征全部收敛到平台。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ChemFM 最快：8 epoch 干净平台（LoRA 0.2% 参数）。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MolFormer 带最宽 = 跨种子方差最大。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 ep50 恰在平台（与最优差 0.005）。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RF 约 50 棵树即饱和。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§3　BACE 结果 · 活性预测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回归基准：图网络（策略二）领先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94360" y="1554480"/>
          <a:ext cx="6675120" cy="192024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371600"/>
                <a:gridCol w="109728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表征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Pearson R ↑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MAE ↓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Chemprop D-MPNN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策略二 · 图网络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0.860 ± 0.005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0.604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RF + Morgan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 · 基线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0.804 ± 0.002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0.643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ChemFM-3B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 · 大模型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0.803 ± 0.004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0.651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MolFormer-XL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 · 序列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0.798 ± 0.037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0.657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5544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45552" y="173736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要点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845552" y="2084832"/>
            <a:ext cx="351129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45552" y="2157984"/>
            <a:ext cx="3529584" cy="2596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Chemprop（图网络）在 R 与 MAE 双双最佳：0.835 / 0.604。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其余四骨架 R ≈ 0.80，BACE 构效信号各表征都抓得到。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MolFormer 跨种子方差大（±0.037）：如实呈现，不挑种子。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阴性对照：打乱标签 permuted R ≈ −0.06，0.835 是真信号。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§3　BACE 结果 · 活性预测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预测 vs 实测：四类表征同台（测试集 n=303</a:t>
            </a:r>
            <a:r>
              <a:rPr lang="zh-CN" alt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，</a:t>
            </a:r>
            <a:r>
              <a:rPr lang="en-US" altLang="zh-CN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seed=42</a:t>
            </a: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150" dirty="0"/>
          </a:p>
        </p:txBody>
      </p:sp>
      <p:pic>
        <p:nvPicPr>
          <p:cNvPr id="8" name="Image 0" descr="results/figures/fig_pred_grid_j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9875"/>
            <a:ext cx="11247120" cy="30439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图　各表征的预测 pIC50 vs 实测 pIC50（虚线 y=x，标注各自 R / MAE）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 沿对角线最紧凑（</a:t>
            </a:r>
            <a:r>
              <a:rPr lang="zh-CN" alt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最佳</a:t>
            </a:r>
            <a:r>
              <a:rPr lang="en-US" altLang="zh-CN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</a:t>
            </a: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 = 0.86）；四类表征都抓到主趋势。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共性：弱活性端略向均值回归——低活性化合物更难预测。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§3　BACE 结果 · 可信度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是否可以</a:t>
            </a: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相信预测？Conformal 区间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94360" y="1554480"/>
          <a:ext cx="5943600" cy="192024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14630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表征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区间宽度 (pIC50) ↓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经验覆盖率</a:t>
                      </a:r>
                      <a:endParaRPr lang="en-US" sz="120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ChemFM-3B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2.63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0.895（略欠）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Chemprop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2.66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0.925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RF + Morgan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2.87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0.934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MolFormer-XL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2.93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0.924</a:t>
                      </a:r>
                      <a:endParaRPr lang="en-US" sz="1250" dirty="0">
                        <a:latin typeface="Noto Serif CJK SC" pitchFamily="34" charset="0"/>
                        <a:ea typeface="Noto Serif CJK SC" pitchFamily="34" charset="0"/>
                        <a:cs typeface="Noto Serif CJK SC" pitchFamily="34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858000" y="155448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7114032" y="173736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读数 &amp; OOD 警示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114032" y="2084832"/>
            <a:ext cx="4242816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14032" y="2157984"/>
            <a:ext cx="4261104" cy="2779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 上各骨架均有效覆盖（0.90–0.93）。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 最紧合法区间 ±1.33 pIC50（≈ 20 倍 IC50）——有效不等于可用。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条件覆盖：低相似度新骨架欠覆盖（RF 0.87 / ChemFM 0.82），高相似度过覆盖（0.94–0.97）。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外推到新化学时区间偏乐观；CQR 在 BACE 不划算，split conformal 已足够。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§4 可复现性</a:t>
            </a:r>
            <a:r>
              <a:rPr lang="zh-CN" alt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讨论</a:t>
            </a:r>
            <a:endParaRPr lang="zh-CN" altLang="en-US" sz="1150" dirty="0">
              <a:solidFill>
                <a:srgbClr val="1F3864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可复现性</a:t>
            </a:r>
            <a:r>
              <a:rPr lang="zh-CN" alt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讨论</a:t>
            </a:r>
            <a:endParaRPr lang="zh-CN" altLang="en-US" sz="2500" b="1" dirty="0">
              <a:solidFill>
                <a:srgbClr val="1F3864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1554480"/>
            <a:ext cx="25786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700784"/>
            <a:ext cx="257860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63.7%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scaffold 训练-测试重叠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5786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700784"/>
            <a:ext cx="257860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29%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383280" y="2286000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test 近重复 (T&gt;0.85)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554480"/>
            <a:ext cx="25786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1700784"/>
            <a:ext cx="257860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≈ −0.06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172200" y="2286000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阴性对照 permuted 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61120" y="1554480"/>
            <a:ext cx="25786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0" y="1700784"/>
            <a:ext cx="257860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71%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8961120" y="2286000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立体化学未定义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" y="3063240"/>
            <a:ext cx="110185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预定义划分存在训练-测试泄漏：BACE 64% scaffold 重叠、29% 测试分子有近邻——部分性能来自相似性而非真泛化。改用骨架严格分离后 RF+morgan 的 R 从 0.843 → 0.778。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阴性对照：打乱训练标签重训，permuted R ≈ −0.06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§4　可复现性审计 · 图证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泄漏压力测试 + 阴性对照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150" dirty="0"/>
          </a:p>
        </p:txBody>
      </p:sp>
      <p:pic>
        <p:nvPicPr>
          <p:cNvPr id="8" name="Image 0" descr="results/figures/fig_split_leakage_j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65" y="1797685"/>
            <a:ext cx="6986270" cy="34270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5532120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predefined → scaffold 严格分离后 R 0.843 → 0.778（泄漏虚高 0.065）　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§5　讨论与结论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86384"/>
            <a:ext cx="110029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110185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机器学习可靠预测</a:t>
            </a:r>
            <a:r>
              <a:rPr lang="en-US" sz="32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</a:t>
            </a:r>
            <a:r>
              <a:rPr lang="en-US" sz="20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 活性：Chemprop（图网络）R = 0.860、MAE = 0.531 全场最佳；但 MAE 约 3 倍 IC50 仅够粗筛。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Conformal 回答“何时可信”：BACE 有效覆盖下最紧区间约 ±1.3 pIC50。</a:t>
            </a:r>
            <a:endParaRPr lang="en-US" sz="2000" dirty="0">
              <a:solidFill>
                <a:srgbClr val="1A1A1A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赋能药物设计发现前沿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573975" y="310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585216"/>
            <a:ext cx="1100297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44240" y="2861945"/>
            <a:ext cx="5302250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谢谢大家</a:t>
            </a:r>
            <a:endParaRPr lang="zh-CN" altLang="en-US" sz="4800" b="1" dirty="0">
              <a:solidFill>
                <a:srgbClr val="1F3864"/>
              </a:solidFill>
              <a:latin typeface="Noto Serif CJK SC" pitchFamily="34" charset="0"/>
              <a:ea typeface="Noto Serif CJK SC" pitchFamily="34" charset="-122"/>
              <a:cs typeface="Noto Serif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3508</Words>
  <Application>WPS 演示</Application>
  <PresentationFormat>On-screen Show (16:9)</PresentationFormat>
  <Paragraphs>328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9" baseType="lpstr">
      <vt:lpstr>Arial</vt:lpstr>
      <vt:lpstr>宋体</vt:lpstr>
      <vt:lpstr>Wingdings</vt:lpstr>
      <vt:lpstr>Noto Serif CJK SC</vt:lpstr>
      <vt:lpstr>苹方-简</vt:lpstr>
      <vt:lpstr>Noto Serif CJK SC</vt:lpstr>
      <vt:lpstr>Noto Serif CJK SC</vt:lpstr>
      <vt:lpstr>Times New Roman</vt:lpstr>
      <vt:lpstr>Times New Roman</vt:lpstr>
      <vt:lpstr>Times New Roman</vt:lpstr>
      <vt:lpstr>Courier New</vt:lpstr>
      <vt:lpstr>Courier New</vt:lpstr>
      <vt:lpstr>Courier New</vt:lpstr>
      <vt:lpstr>宋体-简</vt:lpstr>
      <vt:lpstr>Calibri</vt:lpstr>
      <vt:lpstr>Helvetica Neue</vt:lpstr>
      <vt:lpstr>微软雅黑</vt:lpstr>
      <vt:lpstr>汉仪旗黑</vt:lpstr>
      <vt:lpstr>汉仪书宋二KW</vt:lpstr>
      <vt:lpstr>宋体</vt:lpstr>
      <vt:lpstr>Arial Unicode MS</vt:lpstr>
      <vt:lpstr>MS PGothic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BACE-1 抑制剂活性预测</dc:title>
  <dc:creator>汤雨凡</dc:creator>
  <dc:subject>PptxGenJS Presentation</dc:subject>
  <cp:lastModifiedBy>汤雨凡</cp:lastModifiedBy>
  <cp:revision>21</cp:revision>
  <dcterms:created xsi:type="dcterms:W3CDTF">2026-06-18T06:17:24Z</dcterms:created>
  <dcterms:modified xsi:type="dcterms:W3CDTF">2026-06-18T06:17:24Z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05BBF2E921CE41B09474336A255DBEAC_42</vt:lpwstr>
  </property>
  <property fmtid="{D5CDD505-2E9C-101B-9397-08002B2CF9AE}" pid="3" name="KSOProductBuildVer">
    <vt:lpwstr>2052-12.1.26016.26016</vt:lpwstr>
  </property>
</Properties>
</file>