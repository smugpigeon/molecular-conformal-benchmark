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37160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" name="Shape 2"/>
          <p:cNvSpPr/>
          <p:nvPr/>
        </p:nvSpPr>
        <p:spPr>
          <a:xfrm>
            <a:off x="1179576" y="1371600"/>
            <a:ext cx="182880" cy="182880"/>
          </a:xfrm>
          <a:prstGeom prst="ellipse">
            <a:avLst/>
          </a:prstGeom>
          <a:solidFill>
            <a:srgbClr val="CC79A7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1371600"/>
            <a:ext cx="182880" cy="18288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6" name="Shape 4"/>
          <p:cNvSpPr/>
          <p:nvPr/>
        </p:nvSpPr>
        <p:spPr>
          <a:xfrm>
            <a:off x="1801368" y="1371600"/>
            <a:ext cx="182880" cy="18288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7" name="Shape 5"/>
          <p:cNvSpPr/>
          <p:nvPr/>
        </p:nvSpPr>
        <p:spPr>
          <a:xfrm>
            <a:off x="2112264" y="1371600"/>
            <a:ext cx="182880" cy="18288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8DAE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复旦大学药学院 · AI 赋能药物设计发现前沿 · 期末实验报告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基于五类分子表征的 ADMET 性质预测、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结构对接与可信度评估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41248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864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点预测之外,更回答一个实用问题:何时可以相信模型?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姓名 / 学号:____________________      授课教师:戚逸飞 · 王任小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算力:8 × NVIDIA RTX 5880 Ada (48GB)      日期:2026 年 6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01 / 背景与任务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为什么做 ADMET 早期预测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新药研发平均耗时 10 年以上、花费超 10 亿美元;每 1 万个化合物最终仅约 1 个上市。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在早期高效淘汰成药性差的候选物,是降低研发成本的核心策略。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ADMET(吸收/分布/代谢/排泄/毒性)预测,正是这一环节的关键计算工具。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1810512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76732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10 年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433425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平均研发周期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3611880"/>
            <a:ext cx="1810512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376732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10 亿$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33472" y="433425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平均研发投入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26864" y="3611880"/>
            <a:ext cx="1810512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376732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 万 → 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433425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化合物上市率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150876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508760"/>
            <a:ext cx="73152" cy="40233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17" name="Text 15"/>
          <p:cNvSpPr/>
          <p:nvPr/>
        </p:nvSpPr>
        <p:spPr>
          <a:xfrm>
            <a:off x="7296912" y="16733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课程作业要求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96912" y="2075688"/>
            <a:ext cx="4096512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策略一:SMILES → 编码器 → 机器学习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策略二:SMILES → 二维分子图 → 图神经网络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本报告不局限单一任务,而在教师提供的 6 个 MoleculeNet 数据集上系统比较两种策略,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并补充 BACE 结构对接,与一条贯穿全文的可信度评估主线。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02 / 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五类分子表征 = 两种课程策略 + 一个超纲对照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9300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828800"/>
            <a:ext cx="310896" cy="31089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/>
          <p:nvPr/>
        </p:nvSpPr>
        <p:spPr>
          <a:xfrm>
            <a:off x="1335024" y="179222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RF + Morgan 指纹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6771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F7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策略一 · 经典基线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57860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半径 2 / 2048 位 + 随机森林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2544" y="1554480"/>
            <a:ext cx="349300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1828800"/>
            <a:ext cx="310896" cy="310896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2" name="Text 10"/>
          <p:cNvSpPr/>
          <p:nvPr/>
        </p:nvSpPr>
        <p:spPr>
          <a:xfrm>
            <a:off x="5047488" y="179222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MolFormer-XL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226771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B2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策略一 · 序列 Transformer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8576" y="257860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11 亿分子预训练,47M 参数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65008" y="1554480"/>
            <a:ext cx="349300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828800"/>
            <a:ext cx="310896" cy="31089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5"/>
          <p:cNvSpPr/>
          <p:nvPr/>
        </p:nvSpPr>
        <p:spPr>
          <a:xfrm>
            <a:off x="8759952" y="179222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ChemFM-3B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226771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E7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策略一 · 解码器大模型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257860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30 亿参数,LoRA 微调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337560"/>
            <a:ext cx="349300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3611880"/>
            <a:ext cx="310896" cy="310896"/>
          </a:xfrm>
          <a:prstGeom prst="ellipse">
            <a:avLst/>
          </a:prstGeom>
          <a:solidFill>
            <a:srgbClr val="CC79A7"/>
          </a:solidFill>
          <a:ln/>
        </p:spPr>
      </p:sp>
      <p:sp>
        <p:nvSpPr>
          <p:cNvPr id="22" name="Text 20"/>
          <p:cNvSpPr/>
          <p:nvPr/>
        </p:nvSpPr>
        <p:spPr>
          <a:xfrm>
            <a:off x="1335024" y="357530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Chemprop D-MPNN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05079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79A7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策略二 · 图神经网络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" y="436168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有向键消息传递,原子+键特征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52544" y="3337560"/>
            <a:ext cx="349300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8576" y="3611880"/>
            <a:ext cx="310896" cy="310896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357530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Uni-Mol (3D)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8576" y="405079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55E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超纲 · 三维几何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8576" y="436168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SE(3)-Transformer,显式 3D 构象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65008" y="3337560"/>
            <a:ext cx="3493008" cy="16002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611880"/>
            <a:ext cx="310896" cy="310896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2" name="Text 30"/>
          <p:cNvSpPr/>
          <p:nvPr/>
        </p:nvSpPr>
        <p:spPr>
          <a:xfrm>
            <a:off x="8759952" y="357530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评估协议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4050792"/>
            <a:ext cx="30358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 seeds (42/1337/2024),均值 ± 标准差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回归 MAE + Pearson R · 分类 ROC/PR/F1/MCC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目标训练折标准化,防泄漏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03 / 结果 · 点预测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回归基准:图网络与三维表征领先</a:t>
            </a:r>
            <a:endParaRPr lang="en-US" sz="2500" dirty="0"/>
          </a:p>
        </p:txBody>
      </p:sp>
      <p:pic>
        <p:nvPicPr>
          <p:cNvPr id="5" name="Image 0" descr="results/figures/fig_benchmark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6583680" cy="484632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092440" y="1554480"/>
            <a:ext cx="36118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554480"/>
            <a:ext cx="73152" cy="44805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8" name="Text 5"/>
          <p:cNvSpPr/>
          <p:nvPr/>
        </p:nvSpPr>
        <p:spPr>
          <a:xfrm>
            <a:off x="8348472" y="17190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要点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48472" y="2121408"/>
            <a:ext cx="313639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Uni-Mol 与 Chemprop 包揽 Pearson R 前二。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Chemprop 在 BACE 上达全场最高 R = 0.835。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ChemFM-3B 默认 LoRA 在小数据失配:FreeSolv MAE 高达 1.94。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GSHt 全员偏难、MolFormer 跨种子不稳——如实呈现,不挑种子。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03 / 结果 · 点预测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分类基准:序列模型稳,MCC 才见真章</a:t>
            </a:r>
            <a:endParaRPr lang="en-US" sz="2500" dirty="0"/>
          </a:p>
        </p:txBody>
      </p:sp>
      <p:pic>
        <p:nvPicPr>
          <p:cNvPr id="5" name="Image 0" descr="results/figures/fig_benchmark_class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0396"/>
            <a:ext cx="7315200" cy="4248727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092440" y="1554480"/>
            <a:ext cx="36118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554480"/>
            <a:ext cx="73152" cy="44805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8" name="Text 5"/>
          <p:cNvSpPr/>
          <p:nvPr/>
        </p:nvSpPr>
        <p:spPr>
          <a:xfrm>
            <a:off x="8348472" y="17190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要点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48472" y="2121408"/>
            <a:ext cx="313639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BBBP 上 MolFormer 与 ChemFM 最强。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ROC-AUC / PR-AUC / F1 都挤在 0.9 附近,难分高下。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MCC 才暴露真实差距:0.80(MolFormer/ChemFM)对 0.65(其余)。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四指标并报,正是为防单一指标的 cherry-pick。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03 / 结果 · 结构对接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BACE 结构对接:诚实标注弱相关</a:t>
            </a:r>
            <a:endParaRPr lang="en-US" sz="2500" dirty="0"/>
          </a:p>
        </p:txBody>
      </p:sp>
      <p:pic>
        <p:nvPicPr>
          <p:cNvPr id="5" name="Image 0" descr="results/figures/fig_bace_do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51" y="1463040"/>
            <a:ext cx="6151418" cy="466344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0" y="1554480"/>
            <a:ext cx="39319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0" y="1554480"/>
            <a:ext cx="73152" cy="44805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8" name="Text 5"/>
          <p:cNvSpPr/>
          <p:nvPr/>
        </p:nvSpPr>
        <p:spPr>
          <a:xfrm>
            <a:off x="8028432" y="17190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要点(扛得住审视)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28432" y="2121408"/>
            <a:ext cx="345643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PDB 4D8C β-secretase A 链 + AutoDock Vina,30 个跨活性配体。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D55E0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原始 Pearson r = −0.34,n = 30 未达统计显著(p = 0.069)。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控制分子大小后偏相关 −0.29:结合越强、打分越负,符合预期。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物理打分弱于机器学习排序;价值在于可解释的结合模式假设,不夸大。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方法学主线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Conformal 预测可信度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2926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点预测回答“哪个骨架更准”;Conformal prediction 回答“何时可以相信它”——在保持有效覆盖(≥ 名义 90%)的前提下,谁给出最紧的预测区间?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4023360"/>
            <a:ext cx="10515600" cy="1737360"/>
          </a:xfrm>
          <a:prstGeom prst="rect">
            <a:avLst/>
          </a:prstGeom>
          <a:solidFill>
            <a:srgbClr val="1B3047"/>
          </a:solidFill>
          <a:ln w="12700">
            <a:solidFill>
              <a:srgbClr val="0E5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诚实定位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553712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“神经模型过度自信”“覆盖率随化学相似度退化”这两个现象,在 MUBen(TMLR 2024)、Norinder(2014)等文献已充分报道——本工作不声称发现它们。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增量在于:在统一协议下,首次对现代基础模型(MolFormer-XL / Uni-Mol-3D / ChemFM-3B / RF / Chemprop)做横向 conformal 比较,并量化“最紧 ≠ 有效”的代价。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04 / Conformal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覆盖率总览:多数标定良好,Uni-Mol 两格欠覆盖</a:t>
            </a:r>
            <a:endParaRPr lang="en-US" sz="2500" dirty="0"/>
          </a:p>
        </p:txBody>
      </p:sp>
      <p:pic>
        <p:nvPicPr>
          <p:cNvPr id="5" name="Image 0" descr="results/figures/fig_coverag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2706"/>
            <a:ext cx="5440680" cy="3569788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pic>
        <p:nvPicPr>
          <p:cNvPr id="6" name="Image 1" descr="results/figures/fig_width_leader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09507"/>
            <a:ext cx="5212080" cy="2444627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355080" y="47091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名义 90%。Uni-Mol 在 ESOL(0.83)与 Lipophilicity(0.87)明显欠覆盖(红格)。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GSHt 行整体过覆盖(≈0.98–1.00,蓝色)。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宽度排行榜以斜纹标注覆盖失效者:其“最紧”不计入有效排名。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04 / Conformal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最紧 ≠ 有效</a:t>
            </a:r>
            <a:endParaRPr lang="en-US" sz="2500" dirty="0"/>
          </a:p>
        </p:txBody>
      </p:sp>
      <p:pic>
        <p:nvPicPr>
          <p:cNvPr id="5" name="Image 0" descr="results/figures/fig_tradeoff_width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239" y="1554480"/>
            <a:ext cx="10681042" cy="320040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4983480"/>
            <a:ext cx="73152" cy="137160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51480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读图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5550408"/>
            <a:ext cx="10497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Uni-Mol 在多数任务给出最窄区间,但其 ESOL 区间虽最紧、覆盖率却跌进阴影“欠覆盖”区——窄而不可信;在覆盖有效的任务上,Uni-Mol 与 Chemprop 才是最紧的合法区间。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04 / Conformal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条件覆盖:边际达标掩盖了 OOD 失效</a:t>
            </a:r>
            <a:endParaRPr lang="en-US" sz="2500" dirty="0"/>
          </a:p>
        </p:txBody>
      </p:sp>
      <p:pic>
        <p:nvPicPr>
          <p:cNvPr id="5" name="Image 0" descr="results/figures/fig_ad_conditional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667" y="1463040"/>
            <a:ext cx="6451065" cy="475488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498080" y="1554480"/>
            <a:ext cx="4206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0" y="1554480"/>
            <a:ext cx="73152" cy="44805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8" name="Text 5"/>
          <p:cNvSpPr/>
          <p:nvPr/>
        </p:nvSpPr>
        <p:spPr>
          <a:xfrm>
            <a:off x="7754112" y="17190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护城河:条件覆盖审计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54112" y="2121408"/>
            <a:ext cx="373075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按 applicability domain(到最近训练分子的 Tanimoto)分层。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D55E0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低相似度(新化学,T ≈ 0.46)子群:所有骨架系统性欠覆盖。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高相似度子群过覆盖——二者相互抵消,使边际覆盖“看起来”达标。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对需外推到新骨架的真实虚拟筛选,是直接的可信度警示。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04 / Conformal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CQR:自适应区间能否补回欠覆盖?</a:t>
            </a:r>
            <a:endParaRPr lang="en-US" sz="2500" dirty="0"/>
          </a:p>
        </p:txBody>
      </p:sp>
      <p:pic>
        <p:nvPicPr>
          <p:cNvPr id="5" name="Image 0" descr="results/figures/fig_split_vs_cqr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181"/>
            <a:ext cx="6949440" cy="3750599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0" y="1554480"/>
            <a:ext cx="39319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0" y="1554480"/>
            <a:ext cx="73152" cy="44805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8" name="Text 5"/>
          <p:cNvSpPr/>
          <p:nvPr/>
        </p:nvSpPr>
        <p:spPr>
          <a:xfrm>
            <a:off x="8028432" y="17190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结论:骨架依赖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28432" y="2121408"/>
            <a:ext cx="345643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为每个骨架训练分位头(pinball 损失)+ CQR 有限样本校正。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Uni-Mol:ESOL 覆盖率 0.83 → 0.90 修复;GSHt 反而收紧。CQR 对三维异方差骨架最有价值。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GBM / Chemprop:小数据上分位头噪声大,区间普遍变宽、不划算。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即 CQR 价值取决于骨架与误差结构——诚实的负-正混合结论,非“全面更优”。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05 / 可信度审计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科研级审计:拆穿自己的数字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78608" cy="109728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55E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89%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GSHt scaffold 泄漏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578608" cy="109728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9105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55E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5 / 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21214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阴性对照通过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578608" cy="109728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59105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55E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−46%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21214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ECE 温度缩放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06840" y="1463040"/>
            <a:ext cx="2578608" cy="109728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06840" y="159105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55E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&gt;1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06840" y="21214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全骨架 cliff ratio</a:t>
            </a:r>
            <a:endParaRPr lang="en-US" sz="1100" dirty="0"/>
          </a:p>
        </p:txBody>
      </p:sp>
      <p:pic>
        <p:nvPicPr>
          <p:cNvPr id="17" name="Image 0" descr="results/figures/fig_activity_cl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360" y="2788920"/>
            <a:ext cx="6068560" cy="338328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pic>
        <p:nvPicPr>
          <p:cNvPr id="18" name="Image 1" descr="results/figures/fig_bbbp_calib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798" y="2788920"/>
            <a:ext cx="3588244" cy="338328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19" name="Text 15"/>
          <p:cNvSpPr/>
          <p:nvPr/>
        </p:nvSpPr>
        <p:spPr>
          <a:xfrm>
            <a:off x="548640" y="61447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活性悬崖压力测试(外部 MoleculeACE,30 靶)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680960" y="6144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BBBP 温度缩放校准(ECE 0.13 → 0.07)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1248" y="1737360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没有单一最优骨架:图网络与三维模型长于回归,序列 Transformer 稳于分类,传统 RF 是极强基线,大模型 LoRA 在小数据需谨慎。</a:t>
            </a:r>
            <a:endParaRPr lang="en-US" sz="15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物理对接弱于机器学习排序;现有 benchmark 划分普遍存在数据泄漏。</a:t>
            </a:r>
            <a:endParaRPr lang="en-US" sz="15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864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方法学主线:跨基础模型的统一 conformal 可信度评估——量化“最紧 ≠ 有效”、揭示条件覆盖的 OOD 失效、以 CQR 检验自适应区间(结论为骨架依赖)。</a:t>
            </a:r>
            <a:endParaRPr lang="en-US" sz="15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贯穿全文的基石:对自身结果的彻底审计与诚实披露。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5029200"/>
            <a:ext cx="10515600" cy="1051560"/>
          </a:xfrm>
          <a:prstGeom prst="rect">
            <a:avLst/>
          </a:prstGeom>
          <a:solidFill>
            <a:srgbClr val="1B3047"/>
          </a:solidFill>
          <a:ln w="12700">
            <a:solidFill>
              <a:srgbClr val="0E5A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致谢与提问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感谢 戚逸飞老师(yfqi@fudan.edu.cn)与 王任小老师(wangrx@fudan.edu.cn)的指导。欢迎提问。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ADMET · 五类分子表征 · Conformal 可信度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ADMET 预测、结构对接与可信度评估</dc:title>
  <dc:subject>PptxGenJS Presentation</dc:subject>
  <dc:creator>复旦大学药学院</dc:creator>
  <cp:lastModifiedBy>复旦大学药学院</cp:lastModifiedBy>
  <cp:revision>1</cp:revision>
  <dcterms:created xsi:type="dcterms:W3CDTF">2026-06-02T09:44:57Z</dcterms:created>
  <dcterms:modified xsi:type="dcterms:W3CDTF">2026-06-02T09:44:57Z</dcterms:modified>
</cp:coreProperties>
</file>